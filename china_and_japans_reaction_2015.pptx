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2"/>
    <p:sldId id="268" r:id="rId3"/>
    <p:sldId id="269" r:id="rId4"/>
    <p:sldId id="257" r:id="rId5"/>
    <p:sldId id="258" r:id="rId6"/>
    <p:sldId id="259" r:id="rId7"/>
    <p:sldId id="274" r:id="rId8"/>
    <p:sldId id="265" r:id="rId9"/>
    <p:sldId id="273" r:id="rId10"/>
    <p:sldId id="267" r:id="rId11"/>
    <p:sldId id="260" r:id="rId12"/>
    <p:sldId id="275" r:id="rId13"/>
    <p:sldId id="271" r:id="rId14"/>
    <p:sldId id="262" r:id="rId15"/>
    <p:sldId id="266" r:id="rId16"/>
    <p:sldId id="263" r:id="rId17"/>
    <p:sldId id="264" r:id="rId18"/>
    <p:sldId id="276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4" d="100"/>
          <a:sy n="94" d="100"/>
        </p:scale>
        <p:origin x="-88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F1886-601C-5E4E-9D52-20FFD2F53C41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BC2AF-0D90-AD4C-B0F2-C980DABDA9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8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AB3A47-9350-8542-AFEB-C475DE21FF67}" type="slidenum">
              <a:rPr lang="en-US"/>
              <a:pPr/>
              <a:t>10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07AD02CF-162F-443C-A81B-4B334DC7061E}" type="datetimeFigureOut">
              <a:rPr lang="en-US" smtClean="0"/>
              <a:pPr/>
              <a:t>6/1/2015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AE4D340C-971F-45DF-AFA3-E8CE429AB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7772400" cy="1829761"/>
          </a:xfrm>
        </p:spPr>
        <p:txBody>
          <a:bodyPr>
            <a:normAutofit/>
          </a:bodyPr>
          <a:lstStyle/>
          <a:p>
            <a:r>
              <a:rPr lang="en-US" dirty="0" smtClean="0"/>
              <a:t>The Age of Exploration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1143000"/>
            <a:ext cx="7021420" cy="1101248"/>
          </a:xfrm>
        </p:spPr>
        <p:txBody>
          <a:bodyPr/>
          <a:lstStyle/>
          <a:p>
            <a:r>
              <a:rPr lang="en-US" b="1" dirty="0" smtClean="0"/>
              <a:t>Outcome: China and Japan’s Reactions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57400"/>
            <a:ext cx="6781800" cy="44717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Constructive Response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33272" indent="-914400">
              <a:buFont typeface="+mj-lt"/>
              <a:buAutoNum type="arabicPeriod" startAt="2"/>
            </a:pPr>
            <a:r>
              <a:rPr lang="en-US" sz="4600" dirty="0" smtClean="0"/>
              <a:t>How did China and Japan react to European explorers/traders and why?</a:t>
            </a:r>
            <a:endParaRPr lang="en-US" sz="4600" dirty="0"/>
          </a:p>
        </p:txBody>
      </p:sp>
      <p:pic>
        <p:nvPicPr>
          <p:cNvPr id="4" name="Picture 3" descr="Learningtarg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5832">
            <a:off x="6203331" y="4017872"/>
            <a:ext cx="2352389" cy="25375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Will We Learn?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2678" indent="-742950">
              <a:buFont typeface="+mj-lt"/>
              <a:buAutoNum type="arabicPeriod"/>
            </a:pPr>
            <a:r>
              <a:rPr lang="en-US" sz="3800" dirty="0" smtClean="0"/>
              <a:t>The Ming &amp; Qing Dynasties</a:t>
            </a:r>
          </a:p>
          <a:p>
            <a:pPr marL="852678" indent="-742950">
              <a:buFont typeface="+mj-lt"/>
              <a:buAutoNum type="arabicPeriod"/>
            </a:pPr>
            <a:r>
              <a:rPr lang="en-US" sz="3800" dirty="0" smtClean="0"/>
              <a:t>The Voyages of </a:t>
            </a:r>
            <a:r>
              <a:rPr lang="en-US" sz="3800" dirty="0" err="1" smtClean="0"/>
              <a:t>Zheng</a:t>
            </a:r>
            <a:r>
              <a:rPr lang="en-US" sz="3800" dirty="0" smtClean="0"/>
              <a:t> He</a:t>
            </a:r>
          </a:p>
          <a:p>
            <a:pPr marL="852678" indent="-742950">
              <a:buFont typeface="+mj-lt"/>
              <a:buAutoNum type="arabicPeriod"/>
            </a:pPr>
            <a:r>
              <a:rPr lang="en-US" sz="3800" dirty="0" smtClean="0"/>
              <a:t>Ming Relations with Foreign Countries</a:t>
            </a:r>
          </a:p>
          <a:p>
            <a:pPr marL="852678" indent="-742950">
              <a:buFont typeface="+mj-lt"/>
              <a:buAutoNum type="arabicPeriod"/>
            </a:pPr>
            <a:r>
              <a:rPr lang="en-US" sz="3800" dirty="0" smtClean="0"/>
              <a:t>Contact with Japan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2800" dirty="0" smtClean="0"/>
              <a:t>Setting the Stage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/>
            </a:pPr>
            <a:r>
              <a:rPr lang="en-US" sz="2200" dirty="0" smtClean="0"/>
              <a:t>East Asia was a hot spot for </a:t>
            </a:r>
            <a:r>
              <a:rPr lang="en-US" sz="2200" b="1" u="sng" dirty="0" smtClean="0">
                <a:solidFill>
                  <a:srgbClr val="0070C0"/>
                </a:solidFill>
              </a:rPr>
              <a:t>luxury</a:t>
            </a:r>
            <a:r>
              <a:rPr lang="en-US" sz="2200" dirty="0" smtClean="0"/>
              <a:t> goods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2200" dirty="0" smtClean="0"/>
              <a:t>Many Europeans were looking to </a:t>
            </a:r>
            <a:r>
              <a:rPr lang="en-US" sz="2200" b="1" u="sng" dirty="0" smtClean="0">
                <a:solidFill>
                  <a:srgbClr val="0070C0"/>
                </a:solidFill>
              </a:rPr>
              <a:t>trade</a:t>
            </a:r>
            <a:r>
              <a:rPr lang="en-US" sz="2200" dirty="0" smtClean="0"/>
              <a:t> with China and Japan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971800"/>
            <a:ext cx="5791199" cy="3514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/>
          <a:lstStyle/>
          <a:p>
            <a:pPr marL="514350" lvl="0" indent="-514350">
              <a:buFont typeface="+mj-lt"/>
              <a:buAutoNum type="arabicPeriod" startAt="2"/>
            </a:pPr>
            <a:r>
              <a:rPr lang="en-US" sz="2800" dirty="0" smtClean="0"/>
              <a:t>Ming &amp; Qing China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/>
            </a:pPr>
            <a:r>
              <a:rPr lang="en-US" sz="1800" dirty="0" smtClean="0"/>
              <a:t>The Chinese people had rebelled and driven out their </a:t>
            </a:r>
            <a:r>
              <a:rPr lang="en-US" sz="1800" b="1" u="sng" dirty="0" smtClean="0">
                <a:solidFill>
                  <a:srgbClr val="0070C0"/>
                </a:solidFill>
              </a:rPr>
              <a:t>Mongol</a:t>
            </a:r>
            <a:r>
              <a:rPr lang="en-US" sz="1800" b="1" dirty="0" smtClean="0"/>
              <a:t> (Yuan</a:t>
            </a:r>
            <a:r>
              <a:rPr lang="en-US" sz="1800" b="1" u="sng" dirty="0" smtClean="0">
                <a:solidFill>
                  <a:srgbClr val="0070C0"/>
                </a:solidFill>
              </a:rPr>
              <a:t>)</a:t>
            </a:r>
            <a:r>
              <a:rPr lang="en-US" sz="1800" dirty="0" smtClean="0"/>
              <a:t> rulers and had established the </a:t>
            </a:r>
            <a:r>
              <a:rPr lang="en-US" sz="1800" b="1" u="sng" dirty="0" smtClean="0">
                <a:solidFill>
                  <a:srgbClr val="0070C0"/>
                </a:solidFill>
              </a:rPr>
              <a:t>Ming</a:t>
            </a:r>
            <a:r>
              <a:rPr lang="en-US" sz="1800" dirty="0" smtClean="0"/>
              <a:t> Dynasty (1368-1644)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1800" dirty="0" smtClean="0"/>
              <a:t>The Ming government had ruled for </a:t>
            </a:r>
            <a:r>
              <a:rPr lang="en-US" sz="1800" b="1" u="sng" dirty="0" smtClean="0">
                <a:solidFill>
                  <a:srgbClr val="0070C0"/>
                </a:solidFill>
              </a:rPr>
              <a:t>200</a:t>
            </a:r>
            <a:r>
              <a:rPr lang="en-US" sz="1800" dirty="0" smtClean="0"/>
              <a:t> years and was weakening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1800" dirty="0" smtClean="0"/>
              <a:t>Later, the </a:t>
            </a:r>
            <a:r>
              <a:rPr lang="en-US" sz="1800" dirty="0" err="1" smtClean="0"/>
              <a:t>Manchus</a:t>
            </a:r>
            <a:r>
              <a:rPr lang="en-US" sz="1800" dirty="0" smtClean="0"/>
              <a:t>, </a:t>
            </a:r>
            <a:r>
              <a:rPr lang="en-US" sz="1800" b="1" u="sng" dirty="0" smtClean="0">
                <a:solidFill>
                  <a:srgbClr val="0070C0"/>
                </a:solidFill>
              </a:rPr>
              <a:t>people from Manchuria</a:t>
            </a:r>
            <a:r>
              <a:rPr lang="en-US" sz="1800" dirty="0" smtClean="0"/>
              <a:t>, invaded China and established the </a:t>
            </a:r>
            <a:r>
              <a:rPr lang="en-US" sz="1800" b="1" u="sng" dirty="0" smtClean="0">
                <a:solidFill>
                  <a:srgbClr val="0070C0"/>
                </a:solidFill>
              </a:rPr>
              <a:t>Qing</a:t>
            </a:r>
            <a:r>
              <a:rPr lang="en-US" sz="1800" dirty="0" smtClean="0"/>
              <a:t> Dynasty which ruled for 260 years</a:t>
            </a:r>
          </a:p>
          <a:p>
            <a:pPr marL="761238" lvl="1" indent="-514350">
              <a:buFont typeface="+mj-lt"/>
              <a:buAutoNum type="alphaLcPeriod"/>
            </a:pPr>
            <a:endParaRPr lang="en-US" sz="1800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733800"/>
            <a:ext cx="4114800" cy="29066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3733800"/>
            <a:ext cx="4114800" cy="29179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3"/>
            </a:pPr>
            <a:r>
              <a:rPr lang="en-US" sz="2800" dirty="0" smtClean="0"/>
              <a:t>The Ming Dynasty &amp; The Voyages of </a:t>
            </a:r>
            <a:r>
              <a:rPr lang="en-US" sz="2800" dirty="0" err="1" smtClean="0"/>
              <a:t>Zheng</a:t>
            </a:r>
            <a:r>
              <a:rPr lang="en-US" sz="2800" dirty="0" smtClean="0"/>
              <a:t> He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/>
            </a:pPr>
            <a:r>
              <a:rPr lang="en-US" sz="2200" dirty="0" smtClean="0"/>
              <a:t>Emperor</a:t>
            </a:r>
            <a:r>
              <a:rPr lang="en-US" sz="2200" dirty="0" smtClean="0">
                <a:solidFill>
                  <a:srgbClr val="0070C0"/>
                </a:solidFill>
              </a:rPr>
              <a:t> </a:t>
            </a:r>
            <a:r>
              <a:rPr lang="en-US" sz="2200" b="1" u="sng" dirty="0" err="1" smtClean="0">
                <a:solidFill>
                  <a:srgbClr val="0070C0"/>
                </a:solidFill>
              </a:rPr>
              <a:t>Hongwu</a:t>
            </a:r>
            <a:r>
              <a:rPr lang="en-US" sz="2200" dirty="0" smtClean="0"/>
              <a:t> and son </a:t>
            </a:r>
            <a:r>
              <a:rPr lang="en-US" sz="2200" b="1" u="sng" dirty="0" err="1" smtClean="0">
                <a:solidFill>
                  <a:srgbClr val="0070C0"/>
                </a:solidFill>
              </a:rPr>
              <a:t>Yonglo</a:t>
            </a:r>
            <a:r>
              <a:rPr lang="en-US" sz="2200" dirty="0" smtClean="0"/>
              <a:t> were curious about the outside world and launched voyages of exploration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2200" dirty="0" smtClean="0"/>
              <a:t>Chinese Admiral </a:t>
            </a:r>
            <a:r>
              <a:rPr lang="en-US" sz="2200" b="1" u="sng" dirty="0" err="1" smtClean="0">
                <a:solidFill>
                  <a:srgbClr val="0070C0"/>
                </a:solidFill>
              </a:rPr>
              <a:t>Zheng</a:t>
            </a:r>
            <a:r>
              <a:rPr lang="en-US" sz="2200" b="1" u="sng" dirty="0" smtClean="0">
                <a:solidFill>
                  <a:srgbClr val="0070C0"/>
                </a:solidFill>
              </a:rPr>
              <a:t> He</a:t>
            </a:r>
            <a:r>
              <a:rPr lang="en-US" sz="2200" b="1" dirty="0" smtClean="0">
                <a:solidFill>
                  <a:srgbClr val="0070C0"/>
                </a:solidFill>
              </a:rPr>
              <a:t> </a:t>
            </a:r>
            <a:r>
              <a:rPr lang="en-US" sz="2200" dirty="0" smtClean="0"/>
              <a:t>led seven voyages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2200" dirty="0" smtClean="0"/>
              <a:t>Purpose of Voyages: </a:t>
            </a:r>
            <a:r>
              <a:rPr lang="en-US" sz="2200" b="1" u="sng" dirty="0" smtClean="0">
                <a:solidFill>
                  <a:srgbClr val="3366FF"/>
                </a:solidFill>
              </a:rPr>
              <a:t>Show of China’s might and power</a:t>
            </a:r>
          </a:p>
          <a:p>
            <a:pPr marL="761238" lvl="1" indent="-514350">
              <a:buFont typeface="+mj-lt"/>
              <a:buAutoNum type="alphaLcPeriod"/>
            </a:pPr>
            <a:endParaRPr lang="en-US" sz="22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810000"/>
            <a:ext cx="6096000" cy="27270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3"/>
            </a:pPr>
            <a:r>
              <a:rPr lang="en-US" sz="2800" dirty="0" smtClean="0"/>
              <a:t>The Voyages of </a:t>
            </a:r>
            <a:r>
              <a:rPr lang="en-US" sz="2800" dirty="0" err="1" smtClean="0"/>
              <a:t>Zheng</a:t>
            </a:r>
            <a:r>
              <a:rPr lang="en-US" sz="2800" dirty="0" smtClean="0"/>
              <a:t> He &amp; The Ming Dynasty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 startAt="4"/>
            </a:pPr>
            <a:r>
              <a:rPr lang="en-US" sz="2200" dirty="0" smtClean="0"/>
              <a:t>Voyages ranged from Southeast </a:t>
            </a:r>
            <a:r>
              <a:rPr lang="en-US" sz="2200" b="1" u="sng" dirty="0" smtClean="0">
                <a:solidFill>
                  <a:srgbClr val="0070C0"/>
                </a:solidFill>
              </a:rPr>
              <a:t>Asia</a:t>
            </a:r>
            <a:r>
              <a:rPr lang="en-US" sz="2200" dirty="0" smtClean="0"/>
              <a:t> to eastern </a:t>
            </a:r>
            <a:r>
              <a:rPr lang="en-US" sz="2200" b="1" u="sng" dirty="0" smtClean="0">
                <a:solidFill>
                  <a:srgbClr val="0070C0"/>
                </a:solidFill>
              </a:rPr>
              <a:t>Africa</a:t>
            </a:r>
          </a:p>
          <a:p>
            <a:pPr marL="761238" lvl="1" indent="-514350">
              <a:buFont typeface="+mj-lt"/>
              <a:buAutoNum type="alphaLcPeriod" startAt="4"/>
            </a:pPr>
            <a:r>
              <a:rPr lang="en-US" sz="2200" dirty="0" smtClean="0"/>
              <a:t>From </a:t>
            </a:r>
            <a:r>
              <a:rPr lang="en-US" sz="2200" b="1" u="sng" dirty="0" smtClean="0">
                <a:solidFill>
                  <a:srgbClr val="0070C0"/>
                </a:solidFill>
              </a:rPr>
              <a:t>40</a:t>
            </a:r>
            <a:r>
              <a:rPr lang="en-US" sz="2200" dirty="0" smtClean="0"/>
              <a:t> to </a:t>
            </a:r>
            <a:r>
              <a:rPr lang="en-US" sz="2200" b="1" u="sng" dirty="0" smtClean="0">
                <a:solidFill>
                  <a:srgbClr val="0070C0"/>
                </a:solidFill>
              </a:rPr>
              <a:t>300</a:t>
            </a:r>
            <a:r>
              <a:rPr lang="en-US" sz="2200" dirty="0" smtClean="0"/>
              <a:t> ships sailed on each voyage</a:t>
            </a:r>
          </a:p>
          <a:p>
            <a:pPr marL="761238" lvl="1" indent="-514350">
              <a:buFont typeface="+mj-lt"/>
              <a:buAutoNum type="alphaLcPeriod" startAt="4"/>
            </a:pPr>
            <a:r>
              <a:rPr lang="en-US" sz="2200" dirty="0" smtClean="0"/>
              <a:t>Some ships were </a:t>
            </a:r>
            <a:r>
              <a:rPr lang="en-US" sz="2200" b="1" u="sng" dirty="0" smtClean="0">
                <a:solidFill>
                  <a:srgbClr val="0070C0"/>
                </a:solidFill>
              </a:rPr>
              <a:t>400</a:t>
            </a:r>
            <a:r>
              <a:rPr lang="en-US" sz="2200" dirty="0" smtClean="0"/>
              <a:t> feet long (p. 537)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429000"/>
            <a:ext cx="5867400" cy="33366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3429000"/>
            <a:ext cx="2362200" cy="32650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0"/>
            <a:ext cx="6350000" cy="4013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2600"/>
            <a:ext cx="3467100" cy="4368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581400" y="4495800"/>
            <a:ext cx="3352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 err="1" smtClean="0"/>
              <a:t>Zheng</a:t>
            </a:r>
            <a:r>
              <a:rPr lang="en-US" sz="4100" dirty="0" smtClean="0"/>
              <a:t> He</a:t>
            </a:r>
            <a:endParaRPr lang="en-US" sz="4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3"/>
            </a:pPr>
            <a:r>
              <a:rPr lang="en-US" sz="2800" dirty="0" smtClean="0"/>
              <a:t>The Voyages of </a:t>
            </a:r>
            <a:r>
              <a:rPr lang="en-US" sz="2800" dirty="0" err="1" smtClean="0"/>
              <a:t>Zheng</a:t>
            </a:r>
            <a:r>
              <a:rPr lang="en-US" sz="2800" dirty="0" smtClean="0"/>
              <a:t> He &amp; The Ming Dynasty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 startAt="7"/>
            </a:pPr>
            <a:r>
              <a:rPr lang="en-US" sz="1800" dirty="0" smtClean="0"/>
              <a:t>Voyages included </a:t>
            </a:r>
            <a:r>
              <a:rPr lang="en-US" sz="1800" b="1" u="sng" dirty="0" smtClean="0">
                <a:solidFill>
                  <a:srgbClr val="0070C0"/>
                </a:solidFill>
              </a:rPr>
              <a:t>sailors,</a:t>
            </a:r>
            <a:r>
              <a:rPr lang="en-US" sz="1800" dirty="0" smtClean="0"/>
              <a:t> soldiers, </a:t>
            </a:r>
            <a:r>
              <a:rPr lang="en-US" sz="1800" b="1" u="sng" dirty="0" smtClean="0">
                <a:solidFill>
                  <a:srgbClr val="0070C0"/>
                </a:solidFill>
              </a:rPr>
              <a:t>carpenters,</a:t>
            </a:r>
            <a:r>
              <a:rPr lang="en-US" sz="1800" dirty="0" smtClean="0"/>
              <a:t> interpreters, accountants, doctors and </a:t>
            </a:r>
            <a:r>
              <a:rPr lang="en-US" sz="1800" b="1" u="sng" dirty="0" smtClean="0">
                <a:solidFill>
                  <a:srgbClr val="0070C0"/>
                </a:solidFill>
              </a:rPr>
              <a:t>religious</a:t>
            </a:r>
            <a:r>
              <a:rPr lang="en-US" sz="1800" dirty="0" smtClean="0"/>
              <a:t> leaders</a:t>
            </a:r>
          </a:p>
          <a:p>
            <a:pPr marL="761238" lvl="1" indent="-514350">
              <a:buFont typeface="+mj-lt"/>
              <a:buAutoNum type="alphaLcPeriod" startAt="7"/>
            </a:pPr>
            <a:r>
              <a:rPr lang="en-US" sz="1700" dirty="0" smtClean="0"/>
              <a:t>After 7</a:t>
            </a:r>
            <a:r>
              <a:rPr lang="en-US" sz="1700" baseline="30000" dirty="0" smtClean="0"/>
              <a:t>th</a:t>
            </a:r>
            <a:r>
              <a:rPr lang="en-US" sz="1700" dirty="0" smtClean="0"/>
              <a:t> voyage and </a:t>
            </a:r>
            <a:r>
              <a:rPr lang="en-US" sz="1700" dirty="0" err="1" smtClean="0"/>
              <a:t>Zheng</a:t>
            </a:r>
            <a:r>
              <a:rPr lang="en-US" sz="1700" dirty="0" smtClean="0"/>
              <a:t> He’s death, China withdrew into </a:t>
            </a:r>
            <a:r>
              <a:rPr lang="en-US" sz="1700" b="1" u="sng" dirty="0" smtClean="0">
                <a:solidFill>
                  <a:srgbClr val="0070C0"/>
                </a:solidFill>
              </a:rPr>
              <a:t>isolation</a:t>
            </a:r>
            <a:r>
              <a:rPr lang="en-US" sz="1700" dirty="0" smtClean="0"/>
              <a:t> and </a:t>
            </a:r>
            <a:r>
              <a:rPr lang="en-US" sz="1700" b="1" u="sng" dirty="0" smtClean="0">
                <a:solidFill>
                  <a:srgbClr val="0070C0"/>
                </a:solidFill>
              </a:rPr>
              <a:t>destroyed</a:t>
            </a:r>
            <a:r>
              <a:rPr lang="en-US" sz="1700" dirty="0" smtClean="0"/>
              <a:t> the fleet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352800"/>
            <a:ext cx="5562600" cy="3361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43000" y="152400"/>
            <a:ext cx="7010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rgbClr val="C24F00">
                <a:alpha val="74998"/>
              </a:srgb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lackChancery" pitchFamily="2" charset="0"/>
              </a:rPr>
              <a:t>Zheng</a:t>
            </a:r>
            <a:r>
              <a:rPr lang="en-US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lackChancery" pitchFamily="2" charset="0"/>
              </a:rPr>
              <a:t> He’s Voyages</a:t>
            </a:r>
            <a:endParaRPr lang="en-US" sz="32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lackChancery" pitchFamily="2" charset="0"/>
            </a:endParaRPr>
          </a:p>
        </p:txBody>
      </p:sp>
      <p:pic>
        <p:nvPicPr>
          <p:cNvPr id="12298" name="Picture 10" descr="mapchengho"/>
          <p:cNvPicPr>
            <a:picLocks noChangeAspect="1" noChangeArrowheads="1"/>
          </p:cNvPicPr>
          <p:nvPr/>
        </p:nvPicPr>
        <p:blipFill>
          <a:blip r:embed="rId3">
            <a:lum bright="-6000" contrast="24000"/>
          </a:blip>
          <a:srcRect/>
          <a:stretch>
            <a:fillRect/>
          </a:stretch>
        </p:blipFill>
        <p:spPr bwMode="auto">
          <a:xfrm>
            <a:off x="1066800" y="990600"/>
            <a:ext cx="6705600" cy="4727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299" name="Picture 11" descr="Zheng He's ship"/>
          <p:cNvPicPr>
            <a:picLocks noChangeAspect="1" noChangeArrowheads="1"/>
          </p:cNvPicPr>
          <p:nvPr/>
        </p:nvPicPr>
        <p:blipFill>
          <a:blip r:embed="rId4">
            <a:lum contrast="6000"/>
          </a:blip>
          <a:srcRect b="11212"/>
          <a:stretch>
            <a:fillRect/>
          </a:stretch>
        </p:blipFill>
        <p:spPr bwMode="auto">
          <a:xfrm>
            <a:off x="7543800" y="5410200"/>
            <a:ext cx="1371600" cy="1249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133600" y="5867400"/>
            <a:ext cx="518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515938" lvl="1" indent="-401638">
              <a:spcBef>
                <a:spcPct val="50000"/>
              </a:spcBef>
              <a:buClr>
                <a:srgbClr val="963D00"/>
              </a:buClr>
              <a:buSzPct val="120000"/>
              <a:buFont typeface="Arial" charset="0"/>
              <a:buBlip>
                <a:blip r:embed="rId5"/>
              </a:buBlip>
            </a:pPr>
            <a:r>
              <a:rPr lang="en-US" sz="2200" b="1">
                <a:latin typeface="Comic Sans MS" charset="0"/>
              </a:rPr>
              <a:t>In 1498, Da Gama reached Calcutta, China’s favorite port!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4"/>
            </a:pPr>
            <a:r>
              <a:rPr lang="en-US" sz="2800" dirty="0" smtClean="0"/>
              <a:t>Ming Relations with Foreign Countries &amp; Rules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/>
            </a:pPr>
            <a:r>
              <a:rPr lang="en-US" sz="2200" dirty="0" smtClean="0"/>
              <a:t>China’s trade policies in the 1500s reflected </a:t>
            </a:r>
            <a:r>
              <a:rPr lang="en-US" sz="2200" b="1" u="sng" dirty="0" smtClean="0">
                <a:solidFill>
                  <a:srgbClr val="0070C0"/>
                </a:solidFill>
              </a:rPr>
              <a:t>isolation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2000" dirty="0" smtClean="0"/>
              <a:t>If foreign states wanted to trade with China, they would have to follow </a:t>
            </a:r>
            <a:r>
              <a:rPr lang="en-US" sz="2000" b="1" u="sng" dirty="0" smtClean="0">
                <a:solidFill>
                  <a:srgbClr val="0070C0"/>
                </a:solidFill>
              </a:rPr>
              <a:t>Chinese rules</a:t>
            </a:r>
            <a:r>
              <a:rPr lang="en-US" sz="2000" b="1" dirty="0" smtClean="0">
                <a:solidFill>
                  <a:srgbClr val="0070C0"/>
                </a:solidFill>
              </a:rPr>
              <a:t> </a:t>
            </a:r>
            <a:r>
              <a:rPr lang="en-US" sz="2000" dirty="0" smtClean="0"/>
              <a:t>because the Chinese did not want Europeans threatening the peace and </a:t>
            </a:r>
            <a:r>
              <a:rPr lang="en-US" sz="2000" b="1" u="sng" dirty="0" smtClean="0">
                <a:solidFill>
                  <a:srgbClr val="0070C0"/>
                </a:solidFill>
              </a:rPr>
              <a:t>prosperity</a:t>
            </a:r>
            <a:r>
              <a:rPr lang="en-US" sz="2000" dirty="0" smtClean="0"/>
              <a:t> the Ming had brought to China.</a:t>
            </a:r>
          </a:p>
          <a:p>
            <a:pPr marL="761238" lvl="1" indent="-514350">
              <a:buFont typeface="+mj-lt"/>
              <a:buAutoNum type="alphaLcPeriod"/>
            </a:pPr>
            <a:r>
              <a:rPr lang="en-US" sz="2000" dirty="0" smtClean="0"/>
              <a:t>China had a long history of being </a:t>
            </a:r>
            <a:r>
              <a:rPr lang="en-US" sz="2000" b="1" u="sng" dirty="0" smtClean="0">
                <a:solidFill>
                  <a:srgbClr val="3366FF"/>
                </a:solidFill>
              </a:rPr>
              <a:t>self-sufficient</a:t>
            </a:r>
            <a:r>
              <a:rPr lang="en-US" sz="2000" dirty="0" smtClean="0"/>
              <a:t> as well</a:t>
            </a:r>
          </a:p>
          <a:p>
            <a:pPr marL="998982" lvl="2" indent="-514350">
              <a:buNone/>
            </a:pPr>
            <a:endParaRPr lang="en-US" sz="2000" dirty="0" smtClean="0"/>
          </a:p>
          <a:p>
            <a:pPr marL="998982" lvl="2" indent="-514350">
              <a:buFont typeface="+mj-lt"/>
              <a:buAutoNum type="alphaLcPeriod"/>
            </a:pPr>
            <a:endParaRPr lang="en-US" sz="2000" dirty="0" smtClean="0"/>
          </a:p>
          <a:p>
            <a:pPr marL="998982" lvl="2" indent="-514350">
              <a:buFont typeface="+mj-lt"/>
              <a:buAutoNum type="alphaLcPeriod"/>
            </a:pPr>
            <a:endParaRPr lang="en-US" sz="2000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4572000"/>
            <a:ext cx="2400300" cy="197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4495800"/>
            <a:ext cx="2819400" cy="2169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4"/>
            </a:pPr>
            <a:r>
              <a:rPr lang="en-US" sz="2800" dirty="0" smtClean="0"/>
              <a:t>Ming Relations with Foreign Countries &amp; Rules</a:t>
            </a:r>
            <a:endParaRPr lang="en-US" sz="2400" dirty="0" smtClean="0"/>
          </a:p>
          <a:p>
            <a:pPr marL="761238" lvl="1" indent="-514350">
              <a:buFont typeface="+mj-lt"/>
              <a:buAutoNum type="alphaLcPeriod" startAt="4"/>
            </a:pPr>
            <a:r>
              <a:rPr lang="en-US" sz="2200" dirty="0" smtClean="0"/>
              <a:t>Rules</a:t>
            </a:r>
            <a:endParaRPr lang="en-US" sz="2000" dirty="0" smtClean="0"/>
          </a:p>
          <a:p>
            <a:pPr marL="998982" lvl="2" indent="-514350">
              <a:buFont typeface="+mj-lt"/>
              <a:buAutoNum type="alphaLcPeriod"/>
            </a:pPr>
            <a:r>
              <a:rPr lang="en-US" sz="2000" dirty="0" smtClean="0"/>
              <a:t>Only the </a:t>
            </a:r>
            <a:r>
              <a:rPr lang="en-US" sz="2000" b="1" u="sng" dirty="0" smtClean="0">
                <a:solidFill>
                  <a:srgbClr val="0070C0"/>
                </a:solidFill>
              </a:rPr>
              <a:t>government</a:t>
            </a:r>
            <a:r>
              <a:rPr lang="en-US" sz="2000" dirty="0" smtClean="0"/>
              <a:t> was allowed to conduct foreign trade</a:t>
            </a:r>
          </a:p>
          <a:p>
            <a:pPr marL="998982" lvl="2" indent="-514350">
              <a:buFont typeface="+mj-lt"/>
              <a:buAutoNum type="alphaLcPeriod"/>
            </a:pPr>
            <a:r>
              <a:rPr lang="en-US" sz="2000" dirty="0" smtClean="0"/>
              <a:t>Trading was only allowed at certain ports</a:t>
            </a:r>
          </a:p>
          <a:p>
            <a:pPr marL="998982" lvl="2" indent="-514350">
              <a:buFont typeface="+mj-lt"/>
              <a:buAutoNum type="alphaLcPeriod"/>
            </a:pPr>
            <a:r>
              <a:rPr lang="en-US" sz="2000" dirty="0" smtClean="0"/>
              <a:t>China expected Europe to pay </a:t>
            </a:r>
            <a:r>
              <a:rPr lang="en-US" sz="2000" b="1" u="sng" dirty="0" smtClean="0">
                <a:solidFill>
                  <a:srgbClr val="0070C0"/>
                </a:solidFill>
              </a:rPr>
              <a:t>tribute</a:t>
            </a:r>
            <a:r>
              <a:rPr lang="en-US" sz="2000" dirty="0" smtClean="0"/>
              <a:t> to Ming leaders; </a:t>
            </a:r>
          </a:p>
          <a:p>
            <a:pPr marL="998982" lvl="2" indent="-514350">
              <a:buFont typeface="+mj-lt"/>
              <a:buAutoNum type="alphaLcPeriod"/>
            </a:pPr>
            <a:r>
              <a:rPr lang="en-US" sz="2000" dirty="0" smtClean="0"/>
              <a:t>Tribute is a </a:t>
            </a:r>
            <a:r>
              <a:rPr lang="en-US" sz="2000" b="1" u="sng" dirty="0" smtClean="0">
                <a:solidFill>
                  <a:schemeClr val="bg2">
                    <a:lumMod val="50000"/>
                  </a:schemeClr>
                </a:solidFill>
              </a:rPr>
              <a:t>peace tax</a:t>
            </a:r>
          </a:p>
          <a:p>
            <a:pPr marL="998982" lvl="2" indent="-514350">
              <a:buFont typeface="+mj-lt"/>
              <a:buAutoNum type="alphaLcPeriod"/>
            </a:pPr>
            <a:r>
              <a:rPr lang="en-US" sz="1600" b="1" u="sng" dirty="0" smtClean="0">
                <a:solidFill>
                  <a:srgbClr val="0070C0"/>
                </a:solidFill>
              </a:rPr>
              <a:t>Kowtow</a:t>
            </a:r>
            <a:r>
              <a:rPr lang="en-US" sz="1600" dirty="0" smtClean="0"/>
              <a:t> ritual: kneeling in front of the emperor and touching </a:t>
            </a:r>
            <a:r>
              <a:rPr lang="en-US" sz="1600" b="1" u="sng" dirty="0" smtClean="0">
                <a:solidFill>
                  <a:srgbClr val="0070C0"/>
                </a:solidFill>
              </a:rPr>
              <a:t>forehead</a:t>
            </a:r>
            <a:r>
              <a:rPr lang="en-US" sz="1600" dirty="0" smtClean="0"/>
              <a:t> to ground 9 times </a:t>
            </a:r>
          </a:p>
          <a:p>
            <a:pPr marL="998982" lvl="2" indent="-514350">
              <a:buFont typeface="+mj-lt"/>
              <a:buAutoNum type="alphaLcPeriod"/>
            </a:pPr>
            <a:r>
              <a:rPr lang="en-US" sz="1600" dirty="0" smtClean="0"/>
              <a:t>The </a:t>
            </a:r>
            <a:r>
              <a:rPr lang="en-US" sz="1600" b="1" u="sng" dirty="0" smtClean="0">
                <a:solidFill>
                  <a:srgbClr val="0070C0"/>
                </a:solidFill>
              </a:rPr>
              <a:t>Dutch</a:t>
            </a:r>
            <a:r>
              <a:rPr lang="en-US" sz="1600" dirty="0" smtClean="0"/>
              <a:t> accepted these restrictions and were allowed to trade</a:t>
            </a:r>
          </a:p>
          <a:p>
            <a:pPr marL="998982" lvl="2" indent="-514350">
              <a:buFont typeface="+mj-lt"/>
              <a:buAutoNum type="alphaLcPeriod"/>
            </a:pPr>
            <a:endParaRPr lang="en-US" sz="2000" dirty="0" smtClean="0"/>
          </a:p>
          <a:p>
            <a:pPr marL="998982" lvl="2" indent="-514350">
              <a:buFont typeface="+mj-lt"/>
              <a:buAutoNum type="alphaLcPeriod"/>
            </a:pPr>
            <a:endParaRPr lang="en-US" sz="2000" dirty="0" smtClean="0"/>
          </a:p>
          <a:p>
            <a:pPr marL="998982" lvl="2" indent="-514350">
              <a:buFont typeface="+mj-lt"/>
              <a:buAutoNum type="alphaLcPeriod"/>
            </a:pPr>
            <a:endParaRPr lang="en-US" sz="2000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876800"/>
            <a:ext cx="2637367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Kowtow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304800"/>
            <a:ext cx="5774352" cy="609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/>
          <a:lstStyle/>
          <a:p>
            <a:pPr marL="624078" lvl="0" indent="-514350">
              <a:buFont typeface="+mj-lt"/>
              <a:buAutoNum type="arabicPeriod" startAt="6"/>
            </a:pPr>
            <a:r>
              <a:rPr lang="en-US" sz="2800" dirty="0" smtClean="0"/>
              <a:t>Japan</a:t>
            </a:r>
            <a:endParaRPr lang="en-US" sz="2400" dirty="0" smtClean="0"/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In 1467, </a:t>
            </a:r>
            <a:r>
              <a:rPr lang="en-US" sz="1800" b="1" u="sng" dirty="0" smtClean="0">
                <a:solidFill>
                  <a:srgbClr val="0070C0"/>
                </a:solidFill>
              </a:rPr>
              <a:t>civil war </a:t>
            </a:r>
            <a:r>
              <a:rPr lang="en-US" sz="1800" dirty="0" smtClean="0"/>
              <a:t>shattered Japan’s feudal system and the country became chaotic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700" dirty="0" smtClean="0"/>
              <a:t>Warrior chieftains called </a:t>
            </a:r>
            <a:r>
              <a:rPr lang="en-US" sz="1700" b="1" u="sng" dirty="0" smtClean="0">
                <a:solidFill>
                  <a:srgbClr val="0070C0"/>
                </a:solidFill>
              </a:rPr>
              <a:t>daimyos</a:t>
            </a:r>
            <a:r>
              <a:rPr lang="en-US" sz="1700" dirty="0" smtClean="0"/>
              <a:t> became lords in a new Japanese feudalistic system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3276600"/>
            <a:ext cx="3200400" cy="33453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0"/>
            <a:ext cx="6269886" cy="6636434"/>
          </a:xfrm>
          <a:prstGeom prst="rect">
            <a:avLst/>
          </a:prstGeom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28600"/>
            <a:ext cx="166576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416"/>
            <a:ext cx="9144000" cy="4846320"/>
          </a:xfrm>
        </p:spPr>
        <p:txBody>
          <a:bodyPr>
            <a:normAutofit/>
          </a:bodyPr>
          <a:lstStyle/>
          <a:p>
            <a:pPr marL="624078" lvl="0" indent="-514350">
              <a:buFont typeface="+mj-lt"/>
              <a:buAutoNum type="arabicPeriod" startAt="7"/>
            </a:pPr>
            <a:r>
              <a:rPr lang="en-US" sz="2800" dirty="0" smtClean="0"/>
              <a:t>Contact Between Europe and Japan</a:t>
            </a:r>
            <a:endParaRPr lang="en-US" sz="2400" dirty="0" smtClean="0"/>
          </a:p>
          <a:p>
            <a:pPr marL="880110" lvl="1" indent="-514350">
              <a:buFont typeface="+mj-lt"/>
              <a:buAutoNum type="alphaLcPeriod"/>
            </a:pPr>
            <a:r>
              <a:rPr lang="en-US" sz="1700" dirty="0" smtClean="0"/>
              <a:t>Europeans began coming to Japan in the </a:t>
            </a:r>
            <a:r>
              <a:rPr lang="en-US" sz="1700" b="1" u="sng" dirty="0" smtClean="0">
                <a:solidFill>
                  <a:srgbClr val="0070C0"/>
                </a:solidFill>
              </a:rPr>
              <a:t>16</a:t>
            </a:r>
            <a:r>
              <a:rPr lang="en-US" sz="1700" b="1" u="sng" baseline="30000" dirty="0" smtClean="0">
                <a:solidFill>
                  <a:srgbClr val="0070C0"/>
                </a:solidFill>
              </a:rPr>
              <a:t>th</a:t>
            </a:r>
            <a:r>
              <a:rPr lang="en-US" sz="1700" dirty="0" smtClean="0"/>
              <a:t> century and were </a:t>
            </a:r>
            <a:r>
              <a:rPr lang="en-US" sz="1700" b="1" u="sng" dirty="0" smtClean="0">
                <a:solidFill>
                  <a:srgbClr val="0070C0"/>
                </a:solidFill>
              </a:rPr>
              <a:t>welcomed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Within a century, the aggressive Europeans had </a:t>
            </a:r>
            <a:r>
              <a:rPr lang="en-US" sz="1800" b="1" u="sng" dirty="0" smtClean="0">
                <a:solidFill>
                  <a:srgbClr val="0070C0"/>
                </a:solidFill>
              </a:rPr>
              <a:t>worn out </a:t>
            </a:r>
            <a:r>
              <a:rPr lang="en-US" sz="1800" dirty="0" smtClean="0"/>
              <a:t>their welcome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The </a:t>
            </a:r>
            <a:r>
              <a:rPr lang="en-US" sz="1800" b="1" u="sng" dirty="0" smtClean="0">
                <a:solidFill>
                  <a:srgbClr val="0070C0"/>
                </a:solidFill>
              </a:rPr>
              <a:t>Portuguese</a:t>
            </a:r>
            <a:r>
              <a:rPr lang="en-US" sz="1800" dirty="0" smtClean="0"/>
              <a:t> brought clocks, eyeglasses, tobacco, and firearms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600" dirty="0" smtClean="0"/>
              <a:t>By 1600, European missionaries had converted </a:t>
            </a:r>
            <a:r>
              <a:rPr lang="en-US" sz="1600" b="1" u="sng" dirty="0" smtClean="0">
                <a:solidFill>
                  <a:srgbClr val="0070C0"/>
                </a:solidFill>
              </a:rPr>
              <a:t>300,000</a:t>
            </a:r>
            <a:r>
              <a:rPr lang="en-US" sz="1600" dirty="0" smtClean="0"/>
              <a:t> Japanese to Christianity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After </a:t>
            </a:r>
            <a:r>
              <a:rPr lang="en-US" sz="1800" b="1" u="sng" dirty="0" smtClean="0">
                <a:solidFill>
                  <a:srgbClr val="0070C0"/>
                </a:solidFill>
              </a:rPr>
              <a:t>peasant rebellion</a:t>
            </a:r>
            <a:r>
              <a:rPr lang="en-US" sz="1800" b="1" dirty="0" smtClean="0">
                <a:solidFill>
                  <a:srgbClr val="0070C0"/>
                </a:solidFill>
              </a:rPr>
              <a:t> </a:t>
            </a:r>
            <a:r>
              <a:rPr lang="en-US" sz="1800" dirty="0" smtClean="0"/>
              <a:t>(most were Christian) the shoguns ruthlessly persecuted Christians and led to the formation of an </a:t>
            </a:r>
            <a:r>
              <a:rPr lang="en-US" sz="1800" b="1" u="sng" dirty="0" smtClean="0">
                <a:solidFill>
                  <a:srgbClr val="0070C0"/>
                </a:solidFill>
              </a:rPr>
              <a:t>exclusion</a:t>
            </a:r>
            <a:r>
              <a:rPr lang="en-US" sz="1800" dirty="0" smtClean="0"/>
              <a:t> policy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4038600"/>
            <a:ext cx="3371940" cy="2605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0"/>
            <a:ext cx="9144000" cy="3931920"/>
          </a:xfrm>
        </p:spPr>
        <p:txBody>
          <a:bodyPr>
            <a:normAutofit/>
          </a:bodyPr>
          <a:lstStyle/>
          <a:p>
            <a:pPr marL="624078" lvl="0" indent="-514350">
              <a:buFont typeface="+mj-lt"/>
              <a:buAutoNum type="arabicPeriod" startAt="8"/>
            </a:pPr>
            <a:r>
              <a:rPr lang="en-US" sz="2800" dirty="0" smtClean="0"/>
              <a:t>The Closed Country Policy</a:t>
            </a:r>
            <a:endParaRPr lang="en-US" sz="2400" dirty="0" smtClean="0"/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1639 the shoguns sealed Japan’s borders and </a:t>
            </a:r>
            <a:r>
              <a:rPr lang="en-US" sz="1800" b="1" u="sng" dirty="0" smtClean="0">
                <a:solidFill>
                  <a:srgbClr val="0070C0"/>
                </a:solidFill>
              </a:rPr>
              <a:t>excluded merchants </a:t>
            </a:r>
            <a:r>
              <a:rPr lang="en-US" sz="1800" dirty="0" smtClean="0"/>
              <a:t>and </a:t>
            </a:r>
            <a:r>
              <a:rPr lang="en-US" sz="1800" b="1" u="sng" dirty="0" smtClean="0">
                <a:solidFill>
                  <a:srgbClr val="0070C0"/>
                </a:solidFill>
              </a:rPr>
              <a:t>missionaries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700" dirty="0" smtClean="0"/>
              <a:t>Only port of Nagasaki remained open but only to </a:t>
            </a:r>
            <a:r>
              <a:rPr lang="en-US" sz="1700" b="1" u="sng" dirty="0" smtClean="0">
                <a:solidFill>
                  <a:srgbClr val="0070C0"/>
                </a:solidFill>
              </a:rPr>
              <a:t>Dutch</a:t>
            </a:r>
            <a:r>
              <a:rPr lang="en-US" sz="1700" dirty="0" smtClean="0"/>
              <a:t> and </a:t>
            </a:r>
            <a:r>
              <a:rPr lang="en-US" sz="1700" b="1" u="sng" dirty="0" smtClean="0">
                <a:solidFill>
                  <a:srgbClr val="0070C0"/>
                </a:solidFill>
              </a:rPr>
              <a:t>Chinese</a:t>
            </a:r>
            <a:r>
              <a:rPr lang="en-US" sz="1700" dirty="0" smtClean="0"/>
              <a:t> traders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Lasted for more than </a:t>
            </a:r>
            <a:r>
              <a:rPr lang="en-US" sz="1800" b="1" u="sng" dirty="0" smtClean="0">
                <a:solidFill>
                  <a:srgbClr val="0070C0"/>
                </a:solidFill>
              </a:rPr>
              <a:t>200</a:t>
            </a:r>
            <a:r>
              <a:rPr lang="en-US" sz="1800" dirty="0" smtClean="0"/>
              <a:t> years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sz="1800" dirty="0" smtClean="0"/>
              <a:t>Why???</a:t>
            </a:r>
          </a:p>
          <a:p>
            <a:pPr marL="1117854" lvl="2" indent="-514350">
              <a:buFont typeface="+mj-lt"/>
              <a:buAutoNum type="alphaLcPeriod"/>
            </a:pPr>
            <a:r>
              <a:rPr lang="en-US" sz="1600" dirty="0" smtClean="0"/>
              <a:t>Japanese were </a:t>
            </a:r>
            <a:r>
              <a:rPr lang="en-US" sz="1600" b="1" u="sng" dirty="0" smtClean="0">
                <a:solidFill>
                  <a:srgbClr val="0070C0"/>
                </a:solidFill>
              </a:rPr>
              <a:t>forbidden</a:t>
            </a:r>
            <a:r>
              <a:rPr lang="en-US" sz="1600" dirty="0" smtClean="0"/>
              <a:t> to </a:t>
            </a:r>
            <a:r>
              <a:rPr lang="en-US" sz="1600" b="1" u="sng" dirty="0" smtClean="0">
                <a:solidFill>
                  <a:srgbClr val="0070C0"/>
                </a:solidFill>
              </a:rPr>
              <a:t>leave</a:t>
            </a:r>
            <a:r>
              <a:rPr lang="en-US" sz="1600" dirty="0" smtClean="0"/>
              <a:t> so as to not bring back foreign ideas</a:t>
            </a:r>
          </a:p>
          <a:p>
            <a:pPr marL="1117854" lvl="2" indent="-514350">
              <a:buFont typeface="+mj-lt"/>
              <a:buAutoNum type="alphaLcPeriod"/>
            </a:pPr>
            <a:r>
              <a:rPr lang="en-US" sz="1600" dirty="0" smtClean="0"/>
              <a:t>Japan wanted to continue to develop as a </a:t>
            </a:r>
            <a:r>
              <a:rPr lang="en-US" sz="1600" b="1" u="sng" dirty="0" smtClean="0">
                <a:solidFill>
                  <a:srgbClr val="0070C0"/>
                </a:solidFill>
              </a:rPr>
              <a:t>self-sufficient </a:t>
            </a:r>
            <a:r>
              <a:rPr lang="en-US" sz="1600" dirty="0" smtClean="0"/>
              <a:t>country</a:t>
            </a:r>
          </a:p>
          <a:p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257800" cy="1143000"/>
          </a:xfrm>
        </p:spPr>
        <p:txBody>
          <a:bodyPr>
            <a:noAutofit/>
          </a:bodyPr>
          <a:lstStyle/>
          <a:p>
            <a:r>
              <a:rPr lang="en-US" sz="3300" dirty="0" smtClean="0"/>
              <a:t>The Age of Exploration</a:t>
            </a:r>
            <a:endParaRPr lang="en-US" sz="33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228600"/>
            <a:ext cx="3733800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81328"/>
            <a:ext cx="8458200" cy="4525963"/>
          </a:xfrm>
        </p:spPr>
        <p:txBody>
          <a:bodyPr/>
          <a:lstStyle/>
          <a:p>
            <a:r>
              <a:rPr lang="en-US" sz="1500" dirty="0" smtClean="0"/>
              <a:t>Result: Europeans begin to explore west across the </a:t>
            </a:r>
            <a:r>
              <a:rPr lang="en-US" sz="1500" b="1" u="sng" dirty="0" smtClean="0">
                <a:solidFill>
                  <a:srgbClr val="0070C0"/>
                </a:solidFill>
              </a:rPr>
              <a:t>Atlantic</a:t>
            </a:r>
            <a:r>
              <a:rPr lang="en-US" sz="1500" dirty="0" smtClean="0"/>
              <a:t> Ocean to the </a:t>
            </a:r>
            <a:r>
              <a:rPr lang="en-US" sz="1500" b="1" u="sng" dirty="0" smtClean="0">
                <a:solidFill>
                  <a:srgbClr val="0070C0"/>
                </a:solidFill>
              </a:rPr>
              <a:t>New World</a:t>
            </a:r>
            <a:r>
              <a:rPr lang="en-US" sz="1500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Exploration</a:t>
            </a:r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981200"/>
            <a:ext cx="5562600" cy="48020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Constructive Response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33272" indent="-914400">
              <a:buFont typeface="+mj-lt"/>
              <a:buAutoNum type="arabicPeriod" startAt="2"/>
            </a:pPr>
            <a:r>
              <a:rPr lang="en-US" sz="4600" dirty="0" smtClean="0"/>
              <a:t>How did China and Japan react to European explorers/traders and why?</a:t>
            </a:r>
            <a:endParaRPr lang="en-US" sz="4600" dirty="0"/>
          </a:p>
        </p:txBody>
      </p:sp>
      <p:pic>
        <p:nvPicPr>
          <p:cNvPr id="4" name="Picture 3" descr="Learningtarg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5832">
            <a:off x="6203331" y="4017872"/>
            <a:ext cx="2352389" cy="25375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152</TotalTime>
  <Words>627</Words>
  <Application>Microsoft Office PowerPoint</Application>
  <PresentationFormat>On-screen Show (4:3)</PresentationFormat>
  <Paragraphs>78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The Age of Exploration </vt:lpstr>
      <vt:lpstr>Constructive Response Questions</vt:lpstr>
      <vt:lpstr>What Will We Learn?</vt:lpstr>
      <vt:lpstr>The Age of Exploration</vt:lpstr>
      <vt:lpstr>The Age of Exploration</vt:lpstr>
      <vt:lpstr>The Age of Exploration</vt:lpstr>
      <vt:lpstr>The Age of Exploration</vt:lpstr>
      <vt:lpstr>PowerPoint Presentation</vt:lpstr>
      <vt:lpstr>The Age of Exploration</vt:lpstr>
      <vt:lpstr>PowerPoint Presentation</vt:lpstr>
      <vt:lpstr>The Age of Exploration</vt:lpstr>
      <vt:lpstr>The Age of Exploration</vt:lpstr>
      <vt:lpstr>Kowtow</vt:lpstr>
      <vt:lpstr>The Age of Exploration</vt:lpstr>
      <vt:lpstr>PowerPoint Presentation</vt:lpstr>
      <vt:lpstr>The Age of Exploration</vt:lpstr>
      <vt:lpstr>The Age of Exploration</vt:lpstr>
      <vt:lpstr>The Age of Exploration</vt:lpstr>
      <vt:lpstr>Constructive Response 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 of Exploration</dc:title>
  <dc:creator>karl.sagan</dc:creator>
  <cp:lastModifiedBy>James Knutson</cp:lastModifiedBy>
  <cp:revision>20</cp:revision>
  <dcterms:created xsi:type="dcterms:W3CDTF">2015-04-09T13:43:06Z</dcterms:created>
  <dcterms:modified xsi:type="dcterms:W3CDTF">2015-06-01T12:45:24Z</dcterms:modified>
</cp:coreProperties>
</file>